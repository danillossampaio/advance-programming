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9" r:id="rId1"/>
  </p:sldMasterIdLst>
  <p:notesMasterIdLst>
    <p:notesMasterId r:id="rId9"/>
  </p:notesMasterIdLst>
  <p:sldIdLst>
    <p:sldId id="256" r:id="rId2"/>
    <p:sldId id="258" r:id="rId3"/>
    <p:sldId id="266" r:id="rId4"/>
    <p:sldId id="260" r:id="rId5"/>
    <p:sldId id="264" r:id="rId6"/>
    <p:sldId id="265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CB512C4-A7EE-4B44-9FE9-2376FF22CEF9}">
          <p14:sldIdLst>
            <p14:sldId id="256"/>
            <p14:sldId id="258"/>
            <p14:sldId id="266"/>
            <p14:sldId id="260"/>
            <p14:sldId id="264"/>
            <p14:sldId id="265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58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3C327-31F8-42FE-B9E9-736F65E80A78}" type="datetimeFigureOut">
              <a:rPr lang="en-IE" smtClean="0"/>
              <a:t>14/12/2025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4BA67-AFE2-4429-A022-A41F55E5AB2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05587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4BA67-AFE2-4429-A022-A41F55E5AB2D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06604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1BC9F66-85AC-40CC-B9C0-9CB624BE7916}" type="datetimeFigureOut">
              <a:rPr lang="en-IE" smtClean="0"/>
              <a:t>14/12/2025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3EE74A5F-A411-4250-83B9-094037AF702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62372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9F66-85AC-40CC-B9C0-9CB624BE7916}" type="datetimeFigureOut">
              <a:rPr lang="en-IE" smtClean="0"/>
              <a:t>14/12/2025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4A5F-A411-4250-83B9-094037AF702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0306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1BC9F66-85AC-40CC-B9C0-9CB624BE7916}" type="datetimeFigureOut">
              <a:rPr lang="en-IE" smtClean="0"/>
              <a:t>14/12/2025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EE74A5F-A411-4250-83B9-094037AF702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88352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9F66-85AC-40CC-B9C0-9CB624BE7916}" type="datetimeFigureOut">
              <a:rPr lang="en-IE" smtClean="0"/>
              <a:t>14/12/2025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4A5F-A411-4250-83B9-094037AF702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02605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9F66-85AC-40CC-B9C0-9CB624BE7916}" type="datetimeFigureOut">
              <a:rPr lang="en-IE" smtClean="0"/>
              <a:t>14/12/2025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4A5F-A411-4250-83B9-094037AF702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59658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9F66-85AC-40CC-B9C0-9CB624BE7916}" type="datetimeFigureOut">
              <a:rPr lang="en-IE" smtClean="0"/>
              <a:t>14/12/2025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4A5F-A411-4250-83B9-094037AF702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15832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9F66-85AC-40CC-B9C0-9CB624BE7916}" type="datetimeFigureOut">
              <a:rPr lang="en-IE" smtClean="0"/>
              <a:t>14/12/2025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4A5F-A411-4250-83B9-094037AF702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55304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9F66-85AC-40CC-B9C0-9CB624BE7916}" type="datetimeFigureOut">
              <a:rPr lang="en-IE" smtClean="0"/>
              <a:t>14/12/2025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4A5F-A411-4250-83B9-094037AF702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49816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9F66-85AC-40CC-B9C0-9CB624BE7916}" type="datetimeFigureOut">
              <a:rPr lang="en-IE" smtClean="0"/>
              <a:t>14/12/2025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4A5F-A411-4250-83B9-094037AF702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77179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9F66-85AC-40CC-B9C0-9CB624BE7916}" type="datetimeFigureOut">
              <a:rPr lang="en-IE" smtClean="0"/>
              <a:t>14/12/2025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4A5F-A411-4250-83B9-094037AF702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81769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1BC9F66-85AC-40CC-B9C0-9CB624BE7916}" type="datetimeFigureOut">
              <a:rPr lang="en-IE" smtClean="0"/>
              <a:t>14/12/2025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EE74A5F-A411-4250-83B9-094037AF702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21043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1BC9F66-85AC-40CC-B9C0-9CB624BE7916}" type="datetimeFigureOut">
              <a:rPr lang="en-IE" smtClean="0"/>
              <a:t>14/12/2025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EE74A5F-A411-4250-83B9-094037AF7027}" type="slidenum">
              <a:rPr lang="en-IE" smtClean="0"/>
              <a:t>‹#›</a:t>
            </a:fld>
            <a:endParaRPr lang="en-IE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3371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1BC9F66-85AC-40CC-B9C0-9CB624BE7916}" type="datetimeFigureOut">
              <a:rPr lang="en-IE" smtClean="0"/>
              <a:t>14/12/2025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EE74A5F-A411-4250-83B9-094037AF702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82800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9F66-85AC-40CC-B9C0-9CB624BE7916}" type="datetimeFigureOut">
              <a:rPr lang="en-IE" smtClean="0"/>
              <a:t>14/12/2025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4A5F-A411-4250-83B9-094037AF702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35643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9F66-85AC-40CC-B9C0-9CB624BE7916}" type="datetimeFigureOut">
              <a:rPr lang="en-IE" smtClean="0"/>
              <a:t>14/12/2025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4A5F-A411-4250-83B9-094037AF702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058581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9F66-85AC-40CC-B9C0-9CB624BE7916}" type="datetimeFigureOut">
              <a:rPr lang="en-IE" smtClean="0"/>
              <a:t>14/12/2025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4A5F-A411-4250-83B9-094037AF702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90722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1BC9F66-85AC-40CC-B9C0-9CB624BE7916}" type="datetimeFigureOut">
              <a:rPr lang="en-IE" smtClean="0"/>
              <a:t>14/12/2025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EE74A5F-A411-4250-83B9-094037AF702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25409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C9F66-85AC-40CC-B9C0-9CB624BE7916}" type="datetimeFigureOut">
              <a:rPr lang="en-IE" smtClean="0"/>
              <a:t>14/12/2025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74A5F-A411-4250-83B9-094037AF702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685170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90" r:id="rId1"/>
    <p:sldLayoutId id="2147484191" r:id="rId2"/>
    <p:sldLayoutId id="2147484192" r:id="rId3"/>
    <p:sldLayoutId id="2147484193" r:id="rId4"/>
    <p:sldLayoutId id="2147484194" r:id="rId5"/>
    <p:sldLayoutId id="2147484195" r:id="rId6"/>
    <p:sldLayoutId id="2147484196" r:id="rId7"/>
    <p:sldLayoutId id="2147484197" r:id="rId8"/>
    <p:sldLayoutId id="2147484198" r:id="rId9"/>
    <p:sldLayoutId id="2147484199" r:id="rId10"/>
    <p:sldLayoutId id="2147484200" r:id="rId11"/>
    <p:sldLayoutId id="2147484201" r:id="rId12"/>
    <p:sldLayoutId id="2147484202" r:id="rId13"/>
    <p:sldLayoutId id="2147484203" r:id="rId14"/>
    <p:sldLayoutId id="2147484204" r:id="rId15"/>
    <p:sldLayoutId id="2147484205" r:id="rId16"/>
    <p:sldLayoutId id="2147484206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5818A-1358-AB31-75E3-CD7CA40A1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14258" y="609365"/>
            <a:ext cx="6132990" cy="1825096"/>
          </a:xfrm>
        </p:spPr>
        <p:txBody>
          <a:bodyPr>
            <a:normAutofit/>
          </a:bodyPr>
          <a:lstStyle/>
          <a:p>
            <a:r>
              <a:rPr lang="en-IE" sz="5400" b="1" dirty="0"/>
              <a:t>Gym Project </a:t>
            </a:r>
            <a:r>
              <a:rPr lang="en-IE" sz="5400" b="1" dirty="0" err="1"/>
              <a:t>managment</a:t>
            </a:r>
            <a:endParaRPr lang="en-IE" sz="5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EAE5A8-0498-32A5-585B-68DEEED6A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4258" y="2492513"/>
            <a:ext cx="6132990" cy="1642058"/>
          </a:xfrm>
        </p:spPr>
        <p:txBody>
          <a:bodyPr>
            <a:normAutofit/>
          </a:bodyPr>
          <a:lstStyle/>
          <a:p>
            <a:pPr algn="just"/>
            <a:r>
              <a:rPr lang="en-IE" sz="1600" dirty="0"/>
              <a:t>The </a:t>
            </a:r>
            <a:r>
              <a:rPr lang="en-IE" sz="1600" b="1" dirty="0" err="1"/>
              <a:t>GymProjectApp</a:t>
            </a:r>
            <a:r>
              <a:rPr lang="en-IE" sz="1600" dirty="0"/>
              <a:t> is an application in C#, developed as part of the Advanced Programming module. The project demonstrates a two-layer architecture — Business Logic Layer (BLL) and Data Access Layer (DAL) — with integration to a </a:t>
            </a:r>
            <a:r>
              <a:rPr lang="en-IE" sz="1600" b="1" dirty="0"/>
              <a:t>SQLite</a:t>
            </a:r>
            <a:r>
              <a:rPr lang="en-IE" sz="1600" dirty="0"/>
              <a:t> database. It includes core CRUD operations, sorting and searching algorithms, and applies object-oriented programming principles.</a:t>
            </a:r>
          </a:p>
          <a:p>
            <a:endParaRPr lang="en-IE" sz="800" dirty="0"/>
          </a:p>
        </p:txBody>
      </p:sp>
      <p:pic>
        <p:nvPicPr>
          <p:cNvPr id="25" name="Picture 24" descr="A logo for a gym&#10;&#10;AI-generated content may be incorrect.">
            <a:extLst>
              <a:ext uri="{FF2B5EF4-FFF2-40B4-BE49-F238E27FC236}">
                <a16:creationId xmlns:a16="http://schemas.microsoft.com/office/drawing/2014/main" id="{2C94A2D5-1B77-C28F-A577-47DBC8A3F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752" y="1801368"/>
            <a:ext cx="2660904" cy="26609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CA89BF-826C-1C06-BA53-9B2CAE4F1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258" y="4134571"/>
            <a:ext cx="6457036" cy="44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B4F81-20D2-8A32-C29E-95EF4DFAC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018" y="709698"/>
            <a:ext cx="8610600" cy="1293028"/>
          </a:xfrm>
        </p:spPr>
        <p:txBody>
          <a:bodyPr>
            <a:normAutofit/>
          </a:bodyPr>
          <a:lstStyle/>
          <a:p>
            <a:r>
              <a:rPr lang="en-IE" b="1" dirty="0"/>
              <a:t>Target Users / Beneficiaries</a:t>
            </a:r>
            <a:endParaRPr lang="en-I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EC5D4B-9BBF-97FD-B691-CBA549225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276" y="3186853"/>
            <a:ext cx="10390883" cy="3125893"/>
          </a:xfrm>
        </p:spPr>
        <p:txBody>
          <a:bodyPr>
            <a:normAutofit/>
          </a:bodyPr>
          <a:lstStyle/>
          <a:p>
            <a:pPr algn="just"/>
            <a:r>
              <a:rPr lang="en-GB" sz="1400" dirty="0"/>
              <a:t>Gym Administrators / Staff: They can efficiently manage member records, product inventories, and membership plans without relying on manual paperwork.</a:t>
            </a:r>
          </a:p>
          <a:p>
            <a:pPr algn="just"/>
            <a:r>
              <a:rPr lang="en-GB" sz="1400" dirty="0"/>
              <a:t>Gym Members: Members benefit from accurate record-keeping of their personal details, membership type, and payment history, ensuring transparency and reliability.</a:t>
            </a:r>
          </a:p>
          <a:p>
            <a:pPr algn="just"/>
            <a:r>
              <a:rPr lang="en-GB" sz="1400" dirty="0"/>
              <a:t>Trainers / Trainees (Future Extension): Trainers can track trainee progress and assign workout plans, while trainees can have their exercise categories and schedules recorded in the system.</a:t>
            </a:r>
          </a:p>
          <a:p>
            <a:pPr algn="just"/>
            <a:r>
              <a:rPr lang="en-GB" sz="1400" dirty="0"/>
              <a:t> Business Owners: Gym owners can monitor product sales, membership statistics, and financial transactions, helping them make informed business decisions.</a:t>
            </a:r>
            <a:endParaRPr lang="en-US" sz="1400" dirty="0"/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84C311CE-C514-ED0B-1063-1CBC9230F645}"/>
              </a:ext>
            </a:extLst>
          </p:cNvPr>
          <p:cNvSpPr txBox="1">
            <a:spLocks/>
          </p:cNvSpPr>
          <p:nvPr/>
        </p:nvSpPr>
        <p:spPr>
          <a:xfrm>
            <a:off x="795277" y="2276578"/>
            <a:ext cx="10390883" cy="910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GB" dirty="0"/>
              <a:t>The project is designed to benefit individuals and organizations involved in gym and fitness management.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2FC9E8-5E68-CA32-5BE9-626342113481}"/>
              </a:ext>
            </a:extLst>
          </p:cNvPr>
          <p:cNvSpPr txBox="1"/>
          <p:nvPr/>
        </p:nvSpPr>
        <p:spPr>
          <a:xfrm>
            <a:off x="377687" y="31868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/>
              <a:t>🧑‍💼</a:t>
            </a:r>
            <a:endParaRPr lang="en-I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3F4221-BFD9-F8FB-6385-9210EB127FBC}"/>
              </a:ext>
            </a:extLst>
          </p:cNvPr>
          <p:cNvSpPr txBox="1"/>
          <p:nvPr/>
        </p:nvSpPr>
        <p:spPr>
          <a:xfrm>
            <a:off x="377687" y="36711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/>
              <a:t>🏋️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AC23DD-71E2-6055-FF45-E793E7C9266B}"/>
              </a:ext>
            </a:extLst>
          </p:cNvPr>
          <p:cNvSpPr txBox="1"/>
          <p:nvPr/>
        </p:nvSpPr>
        <p:spPr>
          <a:xfrm>
            <a:off x="377687" y="41958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/>
              <a:t>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147697-69E3-B99B-2E3C-15185176AFAD}"/>
              </a:ext>
            </a:extLst>
          </p:cNvPr>
          <p:cNvSpPr txBox="1"/>
          <p:nvPr/>
        </p:nvSpPr>
        <p:spPr>
          <a:xfrm>
            <a:off x="377687" y="46424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/>
              <a:t>💼</a:t>
            </a:r>
          </a:p>
        </p:txBody>
      </p:sp>
    </p:spTree>
    <p:extLst>
      <p:ext uri="{BB962C8B-B14F-4D97-AF65-F5344CB8AC3E}">
        <p14:creationId xmlns:p14="http://schemas.microsoft.com/office/powerpoint/2010/main" val="1259107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84C5F-F946-974B-4AA6-7F8A7B7A4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1451C-0D0F-BCFC-66B4-B28756CD5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534" y="3429000"/>
            <a:ext cx="3342861" cy="3203815"/>
          </a:xfrm>
        </p:spPr>
        <p:txBody>
          <a:bodyPr>
            <a:normAutofit/>
          </a:bodyPr>
          <a:lstStyle/>
          <a:p>
            <a:r>
              <a:rPr lang="en-GB" sz="1400" dirty="0"/>
              <a:t>The flowchart represents the execution flow of the main menu, showing how the system responds to user actions.</a:t>
            </a:r>
          </a:p>
          <a:p>
            <a:r>
              <a:rPr lang="en-GB" sz="1400" dirty="0"/>
              <a:t>CRUD operations are distributed across layers in a clean and maintainable way, supporting scalability and clarity</a:t>
            </a:r>
            <a:r>
              <a:rPr lang="en-GB" sz="1200" dirty="0"/>
              <a:t>.</a:t>
            </a:r>
            <a:endParaRPr lang="en-US" sz="1200" dirty="0"/>
          </a:p>
          <a:p>
            <a:endParaRPr lang="en-GB" sz="2400" dirty="0"/>
          </a:p>
          <a:p>
            <a:endParaRPr lang="en-IE" dirty="0"/>
          </a:p>
        </p:txBody>
      </p:sp>
      <p:pic>
        <p:nvPicPr>
          <p:cNvPr id="4" name="Picture 3" descr="A diagram of a company&#10;&#10;AI-generated content may be incorrect.">
            <a:extLst>
              <a:ext uri="{FF2B5EF4-FFF2-40B4-BE49-F238E27FC236}">
                <a16:creationId xmlns:a16="http://schemas.microsoft.com/office/drawing/2014/main" id="{98EAB4F8-822E-9B57-BC07-E2420F26E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" r="-4" b="1946"/>
          <a:stretch>
            <a:fillRect/>
          </a:stretch>
        </p:blipFill>
        <p:spPr>
          <a:xfrm>
            <a:off x="4039117" y="1557131"/>
            <a:ext cx="7539788" cy="49178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14CD743-F022-9D37-98BC-FCF03325CA6E}"/>
              </a:ext>
            </a:extLst>
          </p:cNvPr>
          <p:cNvSpPr txBox="1"/>
          <p:nvPr/>
        </p:nvSpPr>
        <p:spPr>
          <a:xfrm>
            <a:off x="3946351" y="1272387"/>
            <a:ext cx="17165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E" sz="1200" dirty="0"/>
              <a:t>Flowchart</a:t>
            </a:r>
            <a:endParaRPr lang="en-US" sz="1800" dirty="0">
              <a:latin typeface="+mn-lt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AF0FE90-B35D-7A85-03C8-2A1CB61666A0}"/>
              </a:ext>
            </a:extLst>
          </p:cNvPr>
          <p:cNvSpPr txBox="1">
            <a:spLocks/>
          </p:cNvSpPr>
          <p:nvPr/>
        </p:nvSpPr>
        <p:spPr>
          <a:xfrm>
            <a:off x="619760" y="1537955"/>
            <a:ext cx="3491382" cy="1891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/>
              <a:t>System Design </a:t>
            </a:r>
            <a:r>
              <a:rPr lang="en-IE" b="1"/>
              <a:t>Architecture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65415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EE6CED56-1BAE-3644-A4C6-45A99FEEBA95}"/>
              </a:ext>
            </a:extLst>
          </p:cNvPr>
          <p:cNvSpPr txBox="1">
            <a:spLocks/>
          </p:cNvSpPr>
          <p:nvPr/>
        </p:nvSpPr>
        <p:spPr>
          <a:xfrm>
            <a:off x="529285" y="1791959"/>
            <a:ext cx="3337763" cy="286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-2286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 cap="none" dirty="0">
                <a:latin typeface="+mn-lt"/>
                <a:ea typeface="+mn-ea"/>
                <a:cs typeface="+mn-cs"/>
              </a:rPr>
              <a:t>ERD Diagram illustrates the layered architecture,  separating models, business logic, and data access components. </a:t>
            </a:r>
          </a:p>
          <a:p>
            <a:pPr indent="-2286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 cap="none" dirty="0">
                <a:latin typeface="+mn-lt"/>
                <a:ea typeface="+mn-ea"/>
                <a:cs typeface="+mn-cs"/>
              </a:rPr>
              <a:t>Integration between program, manager and repositories, and the SQLite database ensures persistence and modularity.</a:t>
            </a:r>
          </a:p>
        </p:txBody>
      </p:sp>
      <p:pic>
        <p:nvPicPr>
          <p:cNvPr id="12" name="Picture 11" descr="A diagram of a computer&#10;&#10;AI-generated content may be incorrect.">
            <a:extLst>
              <a:ext uri="{FF2B5EF4-FFF2-40B4-BE49-F238E27FC236}">
                <a16:creationId xmlns:a16="http://schemas.microsoft.com/office/drawing/2014/main" id="{F48BBFCD-5A77-4FE7-5CEE-3362BA499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23" r="-4" b="-4"/>
          <a:stretch>
            <a:fillRect/>
          </a:stretch>
        </p:blipFill>
        <p:spPr>
          <a:xfrm>
            <a:off x="4111142" y="1292087"/>
            <a:ext cx="7551573" cy="49255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E49973A-E6B1-4C4C-4A8E-DCB17AA227FD}"/>
              </a:ext>
            </a:extLst>
          </p:cNvPr>
          <p:cNvSpPr txBox="1"/>
          <p:nvPr/>
        </p:nvSpPr>
        <p:spPr>
          <a:xfrm>
            <a:off x="4111142" y="1015088"/>
            <a:ext cx="23655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dirty="0"/>
              <a:t>ERD Diagram</a:t>
            </a:r>
            <a:endParaRPr lang="en-US" sz="1200" dirty="0">
              <a:latin typeface="+mn-lt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DCFE3D2-78F0-F468-D1F6-5E6164FA4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6296" y="121642"/>
            <a:ext cx="8610600" cy="1293028"/>
          </a:xfrm>
        </p:spPr>
        <p:txBody>
          <a:bodyPr/>
          <a:lstStyle/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82431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3662C-5E8F-7270-F972-375FABE5D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720A5-B323-C576-5BFC-9E976710D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8661" y="847198"/>
            <a:ext cx="8610600" cy="1293028"/>
          </a:xfrm>
        </p:spPr>
        <p:txBody>
          <a:bodyPr/>
          <a:lstStyle/>
          <a:p>
            <a:r>
              <a:rPr lang="en-IE" b="1" dirty="0"/>
              <a:t>Technologies Used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277B7-B9E9-C866-2D7F-4DB8E15A1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40226"/>
            <a:ext cx="10853318" cy="3998946"/>
          </a:xfrm>
        </p:spPr>
        <p:txBody>
          <a:bodyPr>
            <a:normAutofit/>
          </a:bodyPr>
          <a:lstStyle/>
          <a:p>
            <a:pPr algn="just"/>
            <a:r>
              <a:rPr lang="en-GB" sz="1400" dirty="0"/>
              <a:t>.NET C# (Business Logic Layer – BLL): Used to implement the core application logic, including managers (</a:t>
            </a:r>
            <a:r>
              <a:rPr lang="en-GB" sz="1400" dirty="0" err="1"/>
              <a:t>MemberManager</a:t>
            </a:r>
            <a:r>
              <a:rPr lang="en-GB" sz="1400" dirty="0"/>
              <a:t>, ProductManager) and user interactions. C# provides strong type safety, object-oriented design, and integration with Visual Studio.</a:t>
            </a:r>
          </a:p>
          <a:p>
            <a:pPr algn="just"/>
            <a:r>
              <a:rPr lang="en-GB" sz="1400" dirty="0"/>
              <a:t>SQLite (Data Access Layer – DAL): A lightweight relational database used to persist data for members and products. The repositories (</a:t>
            </a:r>
            <a:r>
              <a:rPr lang="en-GB" sz="1400" dirty="0" err="1"/>
              <a:t>MemberRepository</a:t>
            </a:r>
            <a:r>
              <a:rPr lang="en-GB" sz="1400" dirty="0"/>
              <a:t>, </a:t>
            </a:r>
            <a:r>
              <a:rPr lang="en-GB" sz="1400" dirty="0" err="1"/>
              <a:t>ProductRepository</a:t>
            </a:r>
            <a:r>
              <a:rPr lang="en-GB" sz="1400" dirty="0"/>
              <a:t>) handle CRUD operations directly with SQLite.</a:t>
            </a:r>
          </a:p>
          <a:p>
            <a:pPr algn="just"/>
            <a:r>
              <a:rPr lang="en-GB" sz="1400" dirty="0"/>
              <a:t>SQL Queries: Employed for database operations such as INSERT, UPDATE, DELETE, and SELECT to manage records efficiently.</a:t>
            </a:r>
          </a:p>
          <a:p>
            <a:pPr algn="just"/>
            <a:r>
              <a:rPr lang="en-GB" sz="1400" dirty="0"/>
              <a:t>Visual Studio / VS Code: Used as the primary IDEs for coding, debugging, and project organization.</a:t>
            </a:r>
          </a:p>
          <a:p>
            <a:pPr algn="just"/>
            <a:r>
              <a:rPr lang="en-GB" sz="1400" dirty="0"/>
              <a:t>GitHub Desktop &amp; GitHub Repository: For version control, project backup, and collaboration. The project is uploaded to the Advance-Programming repository for academic submission in </a:t>
            </a:r>
            <a:r>
              <a:rPr lang="en-GB" sz="1400" dirty="0" err="1"/>
              <a:t>Github</a:t>
            </a:r>
            <a:r>
              <a:rPr lang="en-GB" sz="1400" dirty="0"/>
              <a:t> website.</a:t>
            </a:r>
          </a:p>
          <a:p>
            <a:pPr algn="just"/>
            <a:r>
              <a:rPr lang="en-GB" sz="1400" dirty="0" err="1"/>
              <a:t>Lucidchart</a:t>
            </a:r>
            <a:r>
              <a:rPr lang="en-GB" sz="1400" dirty="0"/>
              <a:t>: Utilized to design ER Diagrams, Flowcharts and more with professional clarity.</a:t>
            </a:r>
            <a:endParaRPr lang="en-IE" sz="1400" dirty="0"/>
          </a:p>
        </p:txBody>
      </p:sp>
      <p:pic>
        <p:nvPicPr>
          <p:cNvPr id="6" name="Picture 5" descr="A logo of a company&#10;&#10;AI-generated content may be incorrect.">
            <a:extLst>
              <a:ext uri="{FF2B5EF4-FFF2-40B4-BE49-F238E27FC236}">
                <a16:creationId xmlns:a16="http://schemas.microsoft.com/office/drawing/2014/main" id="{2C3B71FC-4D61-FC0D-507B-7571DDBDA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370" y="5601123"/>
            <a:ext cx="752580" cy="714475"/>
          </a:xfrm>
          <a:prstGeom prst="rect">
            <a:avLst/>
          </a:prstGeom>
        </p:spPr>
      </p:pic>
      <p:pic>
        <p:nvPicPr>
          <p:cNvPr id="8" name="Picture 7" descr="A round object with a circular object in the middle&#10;&#10;AI-generated content may be incorrect.">
            <a:extLst>
              <a:ext uri="{FF2B5EF4-FFF2-40B4-BE49-F238E27FC236}">
                <a16:creationId xmlns:a16="http://schemas.microsoft.com/office/drawing/2014/main" id="{51F47E15-2FE5-8A2C-7ABC-5833785F5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522" y="5616901"/>
            <a:ext cx="831029" cy="692523"/>
          </a:xfrm>
          <a:prstGeom prst="rect">
            <a:avLst/>
          </a:prstGeom>
        </p:spPr>
      </p:pic>
      <p:pic>
        <p:nvPicPr>
          <p:cNvPr id="10" name="Picture 9" descr="A purple hexagon with a white letter c and a hashtag&#10;&#10;AI-generated content may be incorrect.">
            <a:extLst>
              <a:ext uri="{FF2B5EF4-FFF2-40B4-BE49-F238E27FC236}">
                <a16:creationId xmlns:a16="http://schemas.microsoft.com/office/drawing/2014/main" id="{F313A14D-2187-7D74-D6B6-776E805075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330" y="5631533"/>
            <a:ext cx="779087" cy="692522"/>
          </a:xfrm>
          <a:prstGeom prst="rect">
            <a:avLst/>
          </a:prstGeom>
        </p:spPr>
      </p:pic>
      <p:pic>
        <p:nvPicPr>
          <p:cNvPr id="12" name="Picture 11" descr="A logo with a purple design&#10;&#10;AI-generated content may be incorrect.">
            <a:extLst>
              <a:ext uri="{FF2B5EF4-FFF2-40B4-BE49-F238E27FC236}">
                <a16:creationId xmlns:a16="http://schemas.microsoft.com/office/drawing/2014/main" id="{3D6D0277-8617-4346-BE29-750730AFD2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5221" y="5631533"/>
            <a:ext cx="881482" cy="689969"/>
          </a:xfrm>
          <a:prstGeom prst="rect">
            <a:avLst/>
          </a:prstGeom>
        </p:spPr>
      </p:pic>
      <p:pic>
        <p:nvPicPr>
          <p:cNvPr id="14" name="Picture 13" descr="A blue logo with a cross&#10;&#10;AI-generated content may be incorrect.">
            <a:extLst>
              <a:ext uri="{FF2B5EF4-FFF2-40B4-BE49-F238E27FC236}">
                <a16:creationId xmlns:a16="http://schemas.microsoft.com/office/drawing/2014/main" id="{F0E9ACC3-2649-A32B-DB9E-BB1C36BA8D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8769" y="5601123"/>
            <a:ext cx="737688" cy="69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17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6EF3-8209-824C-5A8B-A85328F28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0880" y="1008213"/>
            <a:ext cx="8610600" cy="1293028"/>
          </a:xfrm>
        </p:spPr>
        <p:txBody>
          <a:bodyPr/>
          <a:lstStyle/>
          <a:p>
            <a:pPr algn="ctr"/>
            <a:r>
              <a:rPr lang="en-IE" b="1" dirty="0"/>
              <a:t>Project Features</a:t>
            </a:r>
            <a:br>
              <a:rPr lang="en-IE" dirty="0"/>
            </a:b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A785D-22BD-1379-06B4-55D2304EB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1800" dirty="0"/>
              <a:t>Insert (Add): Users can add new members and products into the system. Each record is stored persistently in the SQLite database, ensuring data is not lost when the application closes.</a:t>
            </a:r>
            <a:endParaRPr lang="en-US" sz="1800" dirty="0"/>
          </a:p>
          <a:p>
            <a:pPr algn="just"/>
            <a:r>
              <a:rPr lang="en-GB" sz="1800" dirty="0"/>
              <a:t>Delete (Remove): Existing members or products can be deleted by specifying their unique ID. This operation ensures that outdated or incorrect records are removed from the database.</a:t>
            </a:r>
            <a:endParaRPr lang="en-US" sz="1800" dirty="0"/>
          </a:p>
          <a:p>
            <a:pPr algn="just"/>
            <a:r>
              <a:rPr lang="en-GB" sz="1800" dirty="0"/>
              <a:t>Update/Modify: The application allows updating member details (e.g., name, age, membership type) and product details (e.g., name, price, category). This ensures that information remains accurate and up to </a:t>
            </a:r>
            <a:r>
              <a:rPr lang="en-GB" sz="1800"/>
              <a:t>date.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108681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95F1B-FC2E-CED1-9178-D3CEB1AE9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703413"/>
            <a:ext cx="8610600" cy="1293028"/>
          </a:xfrm>
        </p:spPr>
        <p:txBody>
          <a:bodyPr/>
          <a:lstStyle/>
          <a:p>
            <a:pPr algn="ctr"/>
            <a:r>
              <a:rPr lang="en-IE" b="1" dirty="0"/>
              <a:t>Future Work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34203-9ED8-3DE7-E9AB-43044FB63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1400" dirty="0"/>
              <a:t>     By introducing additional features that will improve usability and scalability. Some of the planned improvements include:</a:t>
            </a:r>
          </a:p>
          <a:p>
            <a:pPr algn="just"/>
            <a:r>
              <a:rPr lang="en-GB" sz="1400" dirty="0"/>
              <a:t>Graphical User Interface (GUI): Replace the console-based interface with a user-friendly graphical interface to make navigation easier for non-technical users.</a:t>
            </a:r>
          </a:p>
          <a:p>
            <a:pPr algn="just"/>
            <a:r>
              <a:rPr lang="en-GB" sz="1400" dirty="0"/>
              <a:t> </a:t>
            </a:r>
            <a:r>
              <a:rPr lang="en-IE" sz="1400" dirty="0"/>
              <a:t>Reporting Module: </a:t>
            </a:r>
            <a:r>
              <a:rPr lang="en-GB" sz="1400" dirty="0"/>
              <a:t>Add functionality to generate reports such as membership statistics, payment summaries, and product sales.</a:t>
            </a:r>
          </a:p>
          <a:p>
            <a:pPr algn="just"/>
            <a:r>
              <a:rPr lang="en-GB" sz="1400" dirty="0"/>
              <a:t> </a:t>
            </a:r>
            <a:r>
              <a:rPr lang="en-IE" sz="1400" dirty="0"/>
              <a:t>Search and Filter Options: </a:t>
            </a:r>
            <a:r>
              <a:rPr lang="en-GB" sz="1400" dirty="0"/>
              <a:t>Improve data handling by allowing advanced search and filtering of members and products</a:t>
            </a:r>
          </a:p>
          <a:p>
            <a:pPr algn="just"/>
            <a:r>
              <a:rPr lang="en-GB" sz="1400" dirty="0"/>
              <a:t> Authentication and Security: Implement login and role-based access control to ensure data privacy and secure operations.</a:t>
            </a:r>
          </a:p>
          <a:p>
            <a:pPr algn="just"/>
            <a:r>
              <a:rPr lang="en-GB" sz="1400" dirty="0"/>
              <a:t> Payment Integration: Extend the system to handle membership payments and track financial transactions</a:t>
            </a:r>
          </a:p>
          <a:p>
            <a:pPr algn="just"/>
            <a:r>
              <a:rPr lang="en-GB" sz="1400" dirty="0"/>
              <a:t>Cloud/Network Support: Enable multi-user access by connecting the application to a cloud database or networked environment.</a:t>
            </a:r>
          </a:p>
          <a:p>
            <a:pPr algn="just"/>
            <a:r>
              <a:rPr lang="en-GB" sz="1400" dirty="0"/>
              <a:t>Trainee Management: Introduce a trainee module to track workout plans, progress, and assigned trainers.</a:t>
            </a:r>
          </a:p>
          <a:p>
            <a:pPr algn="just"/>
            <a:r>
              <a:rPr lang="en-GB" sz="1400" dirty="0"/>
              <a:t>Sales Tracking: Add a sales module to monitor product sales, revenue, and inventory levels.</a:t>
            </a:r>
            <a:endParaRPr lang="en-IE" sz="1400" dirty="0"/>
          </a:p>
        </p:txBody>
      </p:sp>
    </p:spTree>
    <p:extLst>
      <p:ext uri="{BB962C8B-B14F-4D97-AF65-F5344CB8AC3E}">
        <p14:creationId xmlns:p14="http://schemas.microsoft.com/office/powerpoint/2010/main" val="64992928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587</TotalTime>
  <Words>735</Words>
  <Application>Microsoft Office PowerPoint</Application>
  <PresentationFormat>Widescreen</PresentationFormat>
  <Paragraphs>41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Century Gothic</vt:lpstr>
      <vt:lpstr>Vapor Trail</vt:lpstr>
      <vt:lpstr>Gym Project managment</vt:lpstr>
      <vt:lpstr>Target Users / Beneficiaries</vt:lpstr>
      <vt:lpstr>PowerPoint Presentation</vt:lpstr>
      <vt:lpstr>PowerPoint Presentation</vt:lpstr>
      <vt:lpstr>Technologies Used</vt:lpstr>
      <vt:lpstr>Project Features 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Danillo Simão Sampaio</dc:creator>
  <cp:lastModifiedBy>Danillo Simão Sampaio</cp:lastModifiedBy>
  <cp:revision>28</cp:revision>
  <dcterms:created xsi:type="dcterms:W3CDTF">2025-12-07T21:43:00Z</dcterms:created>
  <dcterms:modified xsi:type="dcterms:W3CDTF">2025-12-14T16:24:05Z</dcterms:modified>
</cp:coreProperties>
</file>